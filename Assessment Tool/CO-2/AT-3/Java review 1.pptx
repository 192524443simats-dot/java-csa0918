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3" r:id="rId9"/>
    <p:sldId id="264" r:id="rId10"/>
    <p:sldId id="265" r:id="rId11"/>
    <p:sldId id="272" r:id="rId12"/>
    <p:sldId id="266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0D39EE-7884-490A-9FA2-BD90493248E8}" type="doc">
      <dgm:prSet loTypeId="urn:microsoft.com/office/officeart/2005/8/layout/list1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DC09497A-E6D7-4156-AA4A-B5B4001AEA28}" type="pres">
      <dgm:prSet presAssocID="{E50D39EE-7884-490A-9FA2-BD90493248E8}" presName="linear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B5019828-8A3F-4D24-8462-A8834FEC49C7}" type="presOf" srcId="{E50D39EE-7884-490A-9FA2-BD90493248E8}" destId="{DC09497A-E6D7-4156-AA4A-B5B4001AEA28}" srcOrd="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B0BF-94A6-E8A4-A924-FDD6808A5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7C2F9-BCB0-C5EE-E26F-49DCC61E4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E2099-E3AD-28BF-7F24-7695E93B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17C03-F868-4DE6-3953-033F3916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AE718-858E-0602-FB23-052E6CDC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90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CC678-520A-FF36-E2F9-0002EA1B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BC22-CFC3-3822-5F38-DB14715C2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BB345-A5E5-7F8B-3617-B3B5D8D42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BFE65-4EA2-7CBD-71A9-F9D776C2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8F774-66F3-F710-CEC3-D28811A0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78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7688-3ACF-C29E-9B89-E4E08D04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E640A-F43E-100C-C12C-4B3DE1454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C3246-9518-ED05-CE4E-91E1818B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02FE9-4067-70EA-030E-FF05EF80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0D52-15A9-4F08-1768-7C8F40B2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31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9E38-3AF0-15E1-B462-23E1232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D7E7-0563-BE3F-6FB6-70A7060F3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4209F-087F-7D9C-5AC3-69F5BC3E3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29FAC-1D6B-6766-ED69-245D20EE4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A4BBB-44AE-87DF-C41B-1C274D6B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2D64E-65C1-46E8-888E-F2B5BF68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14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8B124-925C-DBA5-C33F-64075E486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E3F5D-E928-F50B-B8C0-95AB35EC9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DD5D3-DCB7-A5BB-F52D-6529F5C57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A31B0-823A-D998-67DB-00141BC5A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AFDCB-1D0C-1CA5-079E-96135B3DC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AE8789-9196-CF6A-336F-9E01ED19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CC45F-3E2F-DEE8-CEC4-BC505E6D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90F73-0769-4841-4072-76736CBD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90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61E0F-5180-922A-3382-F775285D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E53B98-62B9-B3D2-76F0-2708B72D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F3C12-85BE-B503-3446-2E077A31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181D2-4465-13CF-B3FA-E1B27E3A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05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50B9F-6C78-5FDC-668C-DEAF2A69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336B0-3EB1-A6CC-08CC-FB07D91C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F8EDE-EA93-5199-EB50-53EA3B30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6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C2A56-CCAF-0343-2A87-5849C6CB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798CC-E570-1C33-1007-F649BD41A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593B3-A577-7249-52F1-A1AA001E9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D4963-0FFC-0EBB-ECFD-8B6ECBD3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6FD10-6D3B-D967-B839-FF4685B8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30A2E-A691-77D0-4F09-77C9ADAB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C2CC-CFB6-2B39-306C-21378FDB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B4DD7-4ADE-A1F7-E897-26ACE16D2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0265E-AA39-D505-9419-8A24DA55D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490C4-A6FE-8655-C490-22C8B077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7A402-6EAF-D21D-ED92-72116A7A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A5C8B-2357-9740-F5C0-DB0FF19D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060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7B5A-57C9-86CD-5C40-B2795706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42B84-2F61-E2B2-EA5F-9251CB93C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97044-00B8-92D7-052A-FFE732F7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C2CA9-E701-7F10-0C63-B138C8DA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9DF93-083B-ABFB-6BFB-D43B16DB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04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355744-673B-CBC5-F91E-2647B9645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41D29-FC75-2DB5-A1AE-C876216F8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B00A-555C-EC1C-D7AD-3EA394C9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16763-16B2-F873-0712-7D6023B0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CAF0-2D39-BA02-73FC-F0DC0EEA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25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96242-A33E-7615-76CA-A2E28ACC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666F5-AB09-0693-D6D0-75D5CEEFF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D1EBA-1013-8599-CD81-46CF828D8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E6E26-8CEB-46C6-9E82-FEDBC1A8EEB9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5A433-6845-5496-3BCB-1DFC4F559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E736C-1512-7C1F-EECC-CA17B2F3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4ED21-2F52-43F5-BE2E-76360A55C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84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EB2B-74BD-581C-902C-C8937C4EC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0087"/>
            <a:ext cx="9144000" cy="11633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resource, payroll , leave and performance management platform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E31EB-C019-1D98-352A-510E66B3A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350518" y="-644464"/>
            <a:ext cx="45719" cy="45719"/>
          </a:xfrm>
        </p:spPr>
        <p:txBody>
          <a:bodyPr>
            <a:normAutofit fontScale="25000" lnSpcReduction="20000"/>
          </a:bodyPr>
          <a:lstStyle/>
          <a:p>
            <a:pPr algn="l" rtl="0">
              <a:lnSpc>
                <a:spcPct val="110000"/>
              </a:lnSpc>
              <a:buNone/>
            </a:pPr>
            <a:endParaRPr lang="en-US" sz="2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 descr="SIMATS ENGINEERING —BIOTECHNOLOGY">
            <a:extLst>
              <a:ext uri="{FF2B5EF4-FFF2-40B4-BE49-F238E27FC236}">
                <a16:creationId xmlns:a16="http://schemas.microsoft.com/office/drawing/2014/main" id="{81E27F59-BC6A-A969-9558-6FB675C62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64" y="413406"/>
            <a:ext cx="9989574" cy="128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B94423-D8B5-19DF-CA3C-B8CB221BE46C}"/>
              </a:ext>
            </a:extLst>
          </p:cNvPr>
          <p:cNvSpPr txBox="1"/>
          <p:nvPr/>
        </p:nvSpPr>
        <p:spPr>
          <a:xfrm>
            <a:off x="2015613" y="3624579"/>
            <a:ext cx="8652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CSA0918 – 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C52F3-10FA-7DE2-8B66-821AA37C94BA}"/>
              </a:ext>
            </a:extLst>
          </p:cNvPr>
          <p:cNvSpPr txBox="1"/>
          <p:nvPr/>
        </p:nvSpPr>
        <p:spPr>
          <a:xfrm>
            <a:off x="7806815" y="4947166"/>
            <a:ext cx="4100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Elakiya S (192524443)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Rommala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Varshini (</a:t>
            </a:r>
            <a:r>
              <a:rPr lang="en-IN" sz="2000" dirty="0"/>
              <a:t>192525349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A4B0A-B506-082F-4B8A-8AFC52F2F942}"/>
              </a:ext>
            </a:extLst>
          </p:cNvPr>
          <p:cNvSpPr txBox="1"/>
          <p:nvPr/>
        </p:nvSpPr>
        <p:spPr>
          <a:xfrm>
            <a:off x="825910" y="4947167"/>
            <a:ext cx="3559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Dr . </a:t>
            </a:r>
            <a:r>
              <a:rPr lang="en-IN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Padmakala 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87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B6586-C85C-E5B7-F32A-B2038E487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714500"/>
            <a:ext cx="3634248" cy="3634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9CD7F-74B9-BF07-9D3C-E52EABF8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3659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D59F8-6370-42A1-1666-861B778B8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665" y="1985191"/>
            <a:ext cx="10515600" cy="435133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Project Overview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Gaps in Existing Systems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Proposed Solution System Architecture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Breakdown (HR, Payroll, Leave, Performance)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&amp; Flow (Java Backend Architecture)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&amp; Evaluation Plan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FFAD14F7-EF2E-2516-B283-4915BB58F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69" y="230188"/>
            <a:ext cx="1012108" cy="133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7A59FA6A-A4CC-4F2D-2A9F-C83841638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452" y="230188"/>
            <a:ext cx="1160051" cy="116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402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4118A-2342-B44B-C197-DEC8BF2A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68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3121A-9C5F-2FC0-C4CA-E6DC45FEB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42" y="232442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0A4D52-C5AE-F8C0-0013-77C58E66A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750" y="230188"/>
            <a:ext cx="1164437" cy="115834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94D8108-A500-4F72-BB17-2827D4BA57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3151" y="1791970"/>
            <a:ext cx="9688033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Organizations frequently struggle with fragmented administrative systems where HR, payroll processing, leave tracking, and employee performance evaluations operate in silos.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Idea: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unified, secure, web-based platform built on Java technology to automate workforce management workflows end-to-end.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salary slip generation, real-time leave balance calculations, KPI-based performance tracking, and role-based access control (RBAC) for Admin, HR, Managers, and Employees.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Eliminates manual record-keeping errors, streamlines approval chains, and improves data accuracy across department functions.</a:t>
            </a:r>
          </a:p>
        </p:txBody>
      </p:sp>
    </p:spTree>
    <p:extLst>
      <p:ext uri="{BB962C8B-B14F-4D97-AF65-F5344CB8AC3E}">
        <p14:creationId xmlns:p14="http://schemas.microsoft.com/office/powerpoint/2010/main" val="26446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843D1-1692-FD19-CE12-88B14DAA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3" y="4033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8AC320-A923-8055-0274-70225944B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8" y="21789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21AFF2-802A-9D24-DEEA-D0DA5ABC1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375" y="303249"/>
            <a:ext cx="1164437" cy="115834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AFB65C4-9807-C50E-BFE3-36CA8800AF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633" y="1628153"/>
            <a:ext cx="1018032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Workforce management requires seamless integration between employee databases and financial operations.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transformation in internal operations enhances administrative efficiency and reduces overhead costs.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Java?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enterprise reliability, security, and scalability.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ecosystem for backend operations (Spring Security, Spring Data JPA).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Seamless database connectivity via JDBC/Hibernate.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7B7F-813A-314D-7D7B-571B6DEA4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4" y="5237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Analysis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1734A-4458-EC73-C5A1-F9F72758C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53ADC1-6C83-8FF0-DA22-BE1EE2860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239" y="173806"/>
            <a:ext cx="1164437" cy="115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1ACC48-483E-E58A-5D50-5B742184F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245" y="1906609"/>
            <a:ext cx="4807052" cy="3204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7215AED-D5F5-7394-DDF8-ADA5620CBF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5982" y="2010870"/>
            <a:ext cx="8047990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Data Handling: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Reliance on spread-sheets leads to duplicate records and human errors during payroll calculation.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Delayed Approvals: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Paper-based or unintegrated email workflows slow down leave requests and performance reviews.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Analytics: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correlating leave trends or performance scores directly with payroll and incentives.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Access Risks: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Unsecured data channels present confidentiality risks regarding salary structures and personal data.</a:t>
            </a:r>
          </a:p>
        </p:txBody>
      </p:sp>
    </p:spTree>
    <p:extLst>
      <p:ext uri="{BB962C8B-B14F-4D97-AF65-F5344CB8AC3E}">
        <p14:creationId xmlns:p14="http://schemas.microsoft.com/office/powerpoint/2010/main" val="31205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BD899-8135-5F46-C336-5839C067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11A2-F36E-492E-98E7-813EE0AF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240" y="355226"/>
            <a:ext cx="9144000" cy="115834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68294-64FE-57C2-4B40-3F26AA486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EB2844-02FE-29D9-D73E-539F9A948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239" y="173806"/>
            <a:ext cx="1164437" cy="115834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5E02706-0E83-B0A4-1701-8BCF1294D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5040" y="1735771"/>
            <a:ext cx="10007600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build a secure, web-based platform using Java architecture that unifies core HR, leave management, payroll, and performance tracking into a single system.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centralize employee data management by creating a secure relational database for profiles, department details, and organizational roles.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leave request and approval workflows with real-time balance calculations, automated deductions, and manager notifications.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gross and net salaries automatically in Java by integrating basic pay, tax deductions, allowances, and Loss of Pay (LOP) derived from leave data.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generate dynamic monthly PDF pay-slips for employees automatically using Java PDF generation libraries.</a:t>
            </a:r>
          </a:p>
        </p:txBody>
      </p:sp>
    </p:spTree>
    <p:extLst>
      <p:ext uri="{BB962C8B-B14F-4D97-AF65-F5344CB8AC3E}">
        <p14:creationId xmlns:p14="http://schemas.microsoft.com/office/powerpoint/2010/main" val="26339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2F0D-8BD4-1DD6-C5CF-03D5C7387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56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 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D4DB9-BAE5-67F7-90BE-264BB4EB2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7" y="325712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44B233-177B-3856-53AF-40986C058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697" y="151530"/>
            <a:ext cx="1164437" cy="1158340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B8E0F2B-A118-6601-242F-490B08D2EC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3159090"/>
              </p:ext>
            </p:extLst>
          </p:nvPr>
        </p:nvGraphicFramePr>
        <p:xfrm>
          <a:off x="6369018" y="1562856"/>
          <a:ext cx="4006297" cy="733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29ABDEEB-80CE-20E5-7E13-04B73F0CF3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91053"/>
            <a:ext cx="10297160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Model-View-Controller (MVC) Pattern.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 (Spring Boot REST APIs / Servlets) for enterprise business logic.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MySQL/PostgreSQL integrated via Spring Data JPA / Hibernate.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JavaScript, Bootstrap (or Thymeleaf/React integration).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Role-Based Access Control (RBAC)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password encryption to isolate HR, Manager, and Employee privileges.</a:t>
            </a:r>
          </a:p>
        </p:txBody>
      </p:sp>
    </p:spTree>
    <p:extLst>
      <p:ext uri="{BB962C8B-B14F-4D97-AF65-F5344CB8AC3E}">
        <p14:creationId xmlns:p14="http://schemas.microsoft.com/office/powerpoint/2010/main" val="366480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FA6F4-93D8-2901-4BC1-EEF21BB1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6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HR &amp; Leave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99693-D37E-B294-05FC-D562D826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A657B-D6C9-3823-B392-18550F35C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491" y="230188"/>
            <a:ext cx="1164437" cy="115834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F69B36F-D355-2B74-1A0F-C4E446860E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4284" y="1794814"/>
            <a:ext cx="9163432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 Core Module: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employee profile management (Onboarding, Personal Info, Designation, Department).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Employee ID generation and dynamic status tracking (Active, Resigned, On-Leave).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Management System: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 submission portal for employees (Paid Leave, Sick Leave, Casual Leave).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leave quota tracking and automatic deductions upon HR/Manager approval.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leave calendar and notification triggers.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36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3D15-77D1-7FE3-8371-BB14CE40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:Payroll &amp; Performance Tracking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567AB9-5C8A-AA87-6204-65A20C62F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32" r="19625"/>
          <a:stretch/>
        </p:blipFill>
        <p:spPr>
          <a:xfrm>
            <a:off x="8647122" y="2173773"/>
            <a:ext cx="3109730" cy="28996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922F95-D755-E935-4DE2-7BE211DF4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45B1DF-63D6-4E95-85CC-68E406163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4201" y="230188"/>
            <a:ext cx="1164437" cy="115834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0FB9A1B-215E-9667-0385-D8318DDA87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938" y="1707016"/>
            <a:ext cx="7144702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Payroll Processing Engine: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gross and net salary calculation based on basic pay, allowances, tax deductions, and unpaid leave days.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pay-slip generation via Java PDF libraries (e.g.,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JasperReports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Module: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Quarterly/Annual KPI ratings, Manager feedback submissions, and self-appraisal portals.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Rating-based incentive mapping directly into the payroll engine.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36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8FD2-64CA-2490-9F17-F24FD03F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519150"/>
            <a:ext cx="10515600" cy="86937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Modules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E60E0-493A-9470-CB58-F54F98D05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19F729-7D5F-09FD-9F94-55DCB64F0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81" y="230188"/>
            <a:ext cx="1164437" cy="115834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B3D38690-C491-1F23-9ADD-1BBC51621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92" y="1641601"/>
            <a:ext cx="10298984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1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Inter-Module Connectivity: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 module feeds into the Payroll engine to calculate Unpaid Leaves / Loss of Pay (LOP).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ratings feed into annual appraisal/bonus calculations within the Payroll engine.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Relational Design: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relational tables linked via foreign key constraints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leave_id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payroll_id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3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2A94-AA89-9787-7020-F052DE92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EFF5D-6578-E601-2A10-90F23B5D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84" y="374669"/>
            <a:ext cx="10515600" cy="86937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443F0C-4AA7-EF17-DD1D-30639ABB1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2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A6790B-1DBA-861F-EE71-EC509F4AF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81" y="230188"/>
            <a:ext cx="1164437" cy="115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D19F9B-CC62-624A-97D6-A9FF883079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81" b="14222"/>
          <a:stretch/>
        </p:blipFill>
        <p:spPr>
          <a:xfrm>
            <a:off x="1618058" y="1388528"/>
            <a:ext cx="879856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74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E8DB-963C-AF2F-452E-92193BED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6769"/>
            <a:ext cx="10515600" cy="95176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F9619-DE8B-DDB2-CF3A-92C403515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8" y="327026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6CA99E-D6E0-F5CA-92E5-914FA2A7E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375" y="333479"/>
            <a:ext cx="1164437" cy="115834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9FFCCE3-B2D2-87FC-4617-66B1FE98D0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6135"/>
            <a:ext cx="10043160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Calculations: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Zero manual error in monthly payroll processing and leave balance adjustments.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Request 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Instant routing of leave and appraisal requests to respective managers.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 Security: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Strict data isolation so employees can only access their own pay-slips and leave records.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Reporting: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HR dashboard providing real-time headcount, attendance summaries, and performance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108882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96A6-E0CA-ECBD-FB67-DCFB0FFB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F94411-CDFF-4003-95F1-AB8E7D02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7" y="230188"/>
            <a:ext cx="1012024" cy="1329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CA450E-37AD-39C5-9B7F-897639B02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81" y="230188"/>
            <a:ext cx="1164437" cy="11583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855C1C-149B-8D6B-31D2-A7FE11609978}"/>
              </a:ext>
            </a:extLst>
          </p:cNvPr>
          <p:cNvSpPr txBox="1"/>
          <p:nvPr/>
        </p:nvSpPr>
        <p:spPr>
          <a:xfrm>
            <a:off x="749706" y="1522930"/>
            <a:ext cx="10515600" cy="5538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conceptualized a unified, secure Java-based platform to automate core HR, leave, payroll, and performance operations.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robust 3-tier MVC software architecture integrated with Role-Based Access Control (RBAC) to ensure data confidentiality and integrity.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dynamic inter-module logic to eliminate manual data entry, human calculation errors, and administrative delays.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 solid architectural baseline for Phase 2 development, focusing on database schema deployment, REST API integration, and user interface implementation.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575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ank You Vectors - Download Free High-Quality Vectors from Freepik |  Freepik">
            <a:extLst>
              <a:ext uri="{FF2B5EF4-FFF2-40B4-BE49-F238E27FC236}">
                <a16:creationId xmlns:a16="http://schemas.microsoft.com/office/drawing/2014/main" id="{EA69E1A5-A75B-E752-765D-705071A122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10" y="609601"/>
            <a:ext cx="9773503" cy="546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25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896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Human resource, payroll , leave and performance management platform</vt:lpstr>
      <vt:lpstr>Agenda</vt:lpstr>
      <vt:lpstr>Abstract </vt:lpstr>
      <vt:lpstr>Introduction </vt:lpstr>
      <vt:lpstr>Problem Identification and Analysis </vt:lpstr>
      <vt:lpstr>Objectives </vt:lpstr>
      <vt:lpstr>Solution Design </vt:lpstr>
      <vt:lpstr>Module 1 : HR &amp; Leave Management</vt:lpstr>
      <vt:lpstr>Module 2 :Payroll &amp; Performance Tracking</vt:lpstr>
      <vt:lpstr>Integration of Modules</vt:lpstr>
      <vt:lpstr>Architecture Diagram</vt:lpstr>
      <vt:lpstr>Result and Discussion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Yazhini S</dc:creator>
  <cp:lastModifiedBy>Yazhini S</cp:lastModifiedBy>
  <cp:revision>9</cp:revision>
  <dcterms:created xsi:type="dcterms:W3CDTF">2025-12-13T07:49:03Z</dcterms:created>
  <dcterms:modified xsi:type="dcterms:W3CDTF">2026-08-04T03:04:53Z</dcterms:modified>
</cp:coreProperties>
</file>